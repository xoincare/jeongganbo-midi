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A237E"/>
                </a:solidFill>
              </a:defRPr>
            </a:pPr>
            <a:r>
              <a:t>정악 85곡 음악 특성 분석</a:t>
            </a:r>
          </a:p>
          <a:p>
            <a:pPr algn="ctr">
              <a:defRPr sz="1800">
                <a:solidFill>
                  <a:srgbClr val="555555"/>
                </a:solidFill>
              </a:defRPr>
            </a:pPr>
            <a:r>
              <a:t>Heatmap 기반 클러스터링 · 유사도 · 장르 비교</a:t>
            </a:r>
            <a:br/>
            <a:r>
              <a:t>jeongganbo-midi 프로젝트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7E"/>
                </a:solidFill>
              </a:defRPr>
            </a:pPr>
            <a:r>
              <a:t>1. 전체 85곡 음악 특성 Heatmap</a:t>
            </a:r>
          </a:p>
        </p:txBody>
      </p:sp>
      <p:pic>
        <p:nvPicPr>
          <p:cNvPr id="3" name="Picture 2" descr="heatmap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11612880" cy="5760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12개 음악 특성(음고, 음역, 밀도, 엔트로피 등)으로 85곡을 클러스터링. 유사한 곡끼리 그룹화.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7E"/>
                </a:solidFill>
              </a:defRPr>
            </a:pPr>
            <a:r>
              <a:t>2. 장르별 평균 특성 비교</a:t>
            </a:r>
          </a:p>
        </p:txBody>
      </p:sp>
      <p:pic>
        <p:nvPicPr>
          <p:cNvPr id="3" name="Picture 2" descr="heatmap_gen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11612880" cy="5760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12개 장르의 평균 특성값. 관악영산회상/현악영산회상/평조회상의 유사성, 가곡 계면/우조의 차이 확인.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7E"/>
                </a:solidFill>
              </a:defRPr>
            </a:pPr>
            <a:r>
              <a:t>3. 영산회상 계열 곡간 유사도</a:t>
            </a:r>
          </a:p>
        </p:txBody>
      </p:sp>
      <p:pic>
        <p:nvPicPr>
          <p:cNvPr id="3" name="Picture 2" descr="heatmap_simila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11612880" cy="5760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현악·관악·평조 영산회상 24곡 간의 유사도. 같은 악장(상령산, 중령산 등)끼리 높은 유사도.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7E"/>
                </a:solidFill>
              </a:defRPr>
            </a:pPr>
            <a:r>
              <a:t>4. 가곡 계열 유사도 (우조 vs 계면)</a:t>
            </a:r>
          </a:p>
        </p:txBody>
      </p:sp>
      <p:pic>
        <p:nvPicPr>
          <p:cNvPr id="3" name="Picture 2" descr="heatmap_gag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11612880" cy="5760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남창/여창 우조·계면 가곡 간 유사도. 같은 조(우조/계면) 내에서 높은 유사성.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7E"/>
                </a:solidFill>
              </a:defRPr>
            </a:pPr>
            <a:r>
              <a:t>5. 계층적 클러스터링 Dendrogram</a:t>
            </a:r>
          </a:p>
        </p:txBody>
      </p:sp>
      <p:pic>
        <p:nvPicPr>
          <p:cNvPr id="3" name="Picture 2" descr="dend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11612880" cy="5760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Ward 방법 기반 클러스터링. 자연스러운 장르 경계 확인.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6. 클러스터 분석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/>
            </a:pPr>
            <a:r>
              <a:t>클러스터 1 (관악영산회상 중심, 7곡): 관악영산회상 가락덜이, 관악영산회상 상현도드리, 관악영산회상 세령산, 관악영산회상 염불도드리, 관악영산회상 중령산...</a:t>
            </a:r>
          </a:p>
          <a:p>
            <a:pPr>
              <a:spcAft>
                <a:spcPts val="800"/>
              </a:spcAft>
              <a:defRPr sz="1600"/>
            </a:pPr>
            <a:r>
              <a:t>클러스터 2 (기타 중심, 9곡): 관악영산회상 군악, 관악영산회상 상령산, 동동, 수제천, 영산회상 군악...</a:t>
            </a:r>
          </a:p>
          <a:p>
            <a:pPr>
              <a:spcAft>
                <a:spcPts val="800"/>
              </a:spcAft>
              <a:defRPr sz="1600"/>
            </a:pPr>
            <a:r>
              <a:t>클러스터 3 (현악영산회상 중심, 20곡): 남창계면 소용이, 남창우조 삼수대엽, 남창우조 소용이, 여창우조 두거, 영산회상 가락덜이...</a:t>
            </a:r>
          </a:p>
          <a:p>
            <a:pPr>
              <a:spcAft>
                <a:spcPts val="800"/>
              </a:spcAft>
              <a:defRPr sz="1600"/>
            </a:pPr>
            <a:r>
              <a:t>클러스터 4 (남창계면 중심, 14곡): 남창계면 두거, 남창계면 삼수대엽, 남창계면 언편, 남창계면 이수대엽, 남창계면 중거...</a:t>
            </a:r>
          </a:p>
          <a:p>
            <a:pPr>
              <a:spcAft>
                <a:spcPts val="800"/>
              </a:spcAft>
              <a:defRPr sz="1600"/>
            </a:pPr>
            <a:r>
              <a:t>클러스터 5 (남창우조 중심, 16곡): 남창반우반계 반엽, 남창반우반계 편락, 남창우조 두거, 남창우조 언락, 남창우조 우락...</a:t>
            </a:r>
          </a:p>
          <a:p>
            <a:pPr>
              <a:spcAft>
                <a:spcPts val="800"/>
              </a:spcAft>
              <a:defRPr sz="1600"/>
            </a:pPr>
            <a:r>
              <a:t>클러스터 6 (기타 중심, 19곡): 남창계면 언롱, 남창계면 태평가, 밑도드리, 여민락, 여창계면 태평가...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7. 분석 요약 및 주요 발견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/>
            </a:pPr>
            <a:r>
              <a:t>🔍 주요 발견: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1. 영산회상 3계열(현악·관악·평조)은 같은 악장끼리 높은 유사도</a:t>
            </a:r>
          </a:p>
          <a:p>
            <a:pPr>
              <a:spcAft>
                <a:spcPts val="800"/>
              </a:spcAft>
              <a:defRPr sz="1600"/>
            </a:pPr>
            <a:r>
              <a:t>   → 같은 곡의 편성 차이일 뿐, 선율 구조는 동일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2. 가곡은 우조/계면으로 명확히 분리</a:t>
            </a:r>
          </a:p>
          <a:p>
            <a:pPr>
              <a:spcAft>
                <a:spcPts val="800"/>
              </a:spcAft>
              <a:defRPr sz="1600"/>
            </a:pPr>
            <a:r>
              <a:t>   → 계면은 더 좁은 음역, 우조는 더 넓은 음역 경향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3. 취타/현악취타는 별도 클러스터 형성</a:t>
            </a:r>
          </a:p>
          <a:p>
            <a:pPr>
              <a:spcAft>
                <a:spcPts val="800"/>
              </a:spcAft>
              <a:defRPr sz="1600"/>
            </a:pPr>
            <a:r>
              <a:t>   → 군악적 특성: 높은 음밀도, 넓은 음역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4. 여민락은 독자적 위치 (14,052 notes, 128분)</a:t>
            </a:r>
          </a:p>
          <a:p>
            <a:pPr>
              <a:spcAft>
                <a:spcPts val="800"/>
              </a:spcAft>
              <a:defRPr sz="1600"/>
            </a:pPr>
            <a:r>
              <a:t>   → 압도적 규모, 가장 긴 궁중 정악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5. 수제천·동동은 낮은 음밀도의 느린 곡 그룹</a:t>
            </a:r>
          </a:p>
          <a:p>
            <a:pPr>
              <a:spcAft>
                <a:spcPts val="800"/>
              </a:spcAft>
              <a:defRPr sz="1600"/>
            </a:pPr>
            <a:r>
              <a:t>   → 정악 중에서도 가장 느리고 장중한 곡들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